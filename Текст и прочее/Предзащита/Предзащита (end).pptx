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27"/>
  </p:notesMasterIdLst>
  <p:sldIdLst>
    <p:sldId id="256" r:id="rId3"/>
    <p:sldId id="257" r:id="rId4"/>
    <p:sldId id="258" r:id="rId5"/>
    <p:sldId id="259" r:id="rId6"/>
    <p:sldId id="260" r:id="rId7"/>
    <p:sldId id="282" r:id="rId8"/>
    <p:sldId id="283" r:id="rId9"/>
    <p:sldId id="261" r:id="rId10"/>
    <p:sldId id="277" r:id="rId11"/>
    <p:sldId id="278" r:id="rId12"/>
    <p:sldId id="279" r:id="rId13"/>
    <p:sldId id="280" r:id="rId14"/>
    <p:sldId id="281" r:id="rId15"/>
    <p:sldId id="266" r:id="rId16"/>
    <p:sldId id="268" r:id="rId17"/>
    <p:sldId id="267" r:id="rId18"/>
    <p:sldId id="269" r:id="rId19"/>
    <p:sldId id="270" r:id="rId20"/>
    <p:sldId id="272" r:id="rId21"/>
    <p:sldId id="271" r:id="rId22"/>
    <p:sldId id="273" r:id="rId23"/>
    <p:sldId id="274" r:id="rId24"/>
    <p:sldId id="276" r:id="rId25"/>
    <p:sldId id="275" r:id="rId26"/>
  </p:sldIdLst>
  <p:sldSz cx="24387175" cy="13716000"/>
  <p:notesSz cx="13716000" cy="243871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2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29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948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307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D7448DC-5268-4007-9405-B7F5B32DE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D782-F8EF-4289-ACD9-FE399E255DC0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9F3B156-39D4-4F7D-9799-4D801223B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EA6C9B-4B54-49F1-B550-FB74AB085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73E3B-96DC-4A11-9EF5-170E6D3924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1943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7266FE-AF57-4D4E-926C-008A80081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397" y="2244726"/>
            <a:ext cx="18290381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970071-A056-46E3-87ED-64B9AD64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397" y="7204076"/>
            <a:ext cx="18290381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D27DC3-7E29-4FB5-B072-395087C69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D782-F8EF-4289-ACD9-FE399E255DC0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CD0F55-79A0-4CA2-99F2-1FB882F13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74D6D2-099E-429F-9527-998B2EB81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73E3B-96DC-4A11-9EF5-170E6D3924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8351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7A6B0A-2B28-4430-B2C5-361AFA9BD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FE74F8-DDBE-4AF2-8C2C-E0BEC2DD7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006794-C931-4505-8243-474E060C1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D782-F8EF-4289-ACD9-FE399E255DC0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DB3C6D-0D84-4703-A0B8-6E6CB1812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DB91B5-AF73-4487-B6B8-A1672151C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73E3B-96DC-4A11-9EF5-170E6D3924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1836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6BC019-6F90-4323-9B28-D271CA056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917" y="3419477"/>
            <a:ext cx="21033938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93F2DC7-FE84-4B7A-BFC2-DC7C0A665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917" y="9178927"/>
            <a:ext cx="21033938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DDE304-EC22-4D7E-868D-28591A0D8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D782-F8EF-4289-ACD9-FE399E255DC0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B087AE-F1E5-4A3F-9F89-0468A3A68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A855CB-A345-474B-9E5A-81B2D18A0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73E3B-96DC-4A11-9EF5-170E6D3924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8371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6C6E38-F235-4312-B949-B21FC13B0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E8AEE7-A3BD-4B74-B45D-D8E9879789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618" y="3651250"/>
            <a:ext cx="10364549" cy="87026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6697786-EDDA-4331-AEF5-0A2D401E6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6008" y="3651250"/>
            <a:ext cx="10364549" cy="87026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1A22A3D-8791-4E62-BDDB-A499172EB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D782-F8EF-4289-ACD9-FE399E255DC0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E7D115-0B03-40FC-BB5E-36DA7810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30C3C45-5BA4-4C00-A5C7-A885AB855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73E3B-96DC-4A11-9EF5-170E6D3924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7488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E0A0F8-DF00-464A-86E7-06D139F37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795" y="730251"/>
            <a:ext cx="21033938" cy="2651126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705DBE-5400-4D96-A8B0-3B273DB1D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796" y="3362326"/>
            <a:ext cx="10316917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C251937-4B48-460F-A4F0-461908CF8A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796" y="5010150"/>
            <a:ext cx="10316917" cy="73691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F34C059-89D7-4371-B2A6-7021B842EF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6007" y="3362326"/>
            <a:ext cx="1036772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FBD47BE-FCF8-46EF-9477-D451E62051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6007" y="5010150"/>
            <a:ext cx="10367726" cy="73691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9C52789-FB76-4BA6-94AE-D039F4D18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D782-F8EF-4289-ACD9-FE399E255DC0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5189107-E7F6-48C3-A3A3-560C3E853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B8B123A-2796-4C6B-9008-0E28009EC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73E3B-96DC-4A11-9EF5-170E6D3924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8379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E85A47-CE96-425D-B61C-478634A8A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1465481-A56F-4723-BC78-BA139E220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D782-F8EF-4289-ACD9-FE399E255DC0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8184BC5-5D01-4C83-8621-D184F8578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BB25B18-6234-446A-A3ED-947D48EEA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73E3B-96DC-4A11-9EF5-170E6D3924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149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D7448DC-5268-4007-9405-B7F5B32DE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D782-F8EF-4289-ACD9-FE399E255DC0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9F3B156-39D4-4F7D-9799-4D801223B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EA6C9B-4B54-49F1-B550-FB74AB085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73E3B-96DC-4A11-9EF5-170E6D3924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8309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172148-6FCD-425B-873C-ABA434913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796" y="914400"/>
            <a:ext cx="7865498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7937FE-10F1-400A-9452-31DE4113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7726" y="1974851"/>
            <a:ext cx="12346007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3C1DED-702B-4A81-9D5C-534D0A1592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796" y="4114800"/>
            <a:ext cx="7865498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DF7836-A0AE-4E39-9870-5C208AAF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D782-F8EF-4289-ACD9-FE399E255DC0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F615808-AC69-4CA3-A99E-C6D16A83A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755CC9F-FE6E-4413-9C90-79913A4EC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73E3B-96DC-4A11-9EF5-170E6D3924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9738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07D155-9E8C-47E1-9B8E-30D118523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796" y="914400"/>
            <a:ext cx="7865498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21F8270-5447-4D22-A9B4-54B1587526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7726" y="1974851"/>
            <a:ext cx="12346007" cy="974725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076A9D-7DC2-4DE4-AEE7-5F671C8D9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796" y="4114800"/>
            <a:ext cx="7865498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95F5AF6-10AE-4750-B127-A611BD383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D782-F8EF-4289-ACD9-FE399E255DC0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2F0ED21-FB1A-46A5-B488-DEF8A929E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9302628-8765-407C-ADBB-79C8E8015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73E3B-96DC-4A11-9EF5-170E6D3924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4950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3B2E51-F3C2-417F-B5AD-AAB7A0058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2146385-53B8-42B6-A0E8-B1BE44990E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1A37EF-416A-4C25-8B45-11012F88B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D782-F8EF-4289-ACD9-FE399E255DC0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4FD2A0-E773-4012-B694-C859C9EB7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164FFA-00C8-4D90-AD9D-C84CEEE6B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73E3B-96DC-4A11-9EF5-170E6D3924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6129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CCE8EEC-E5BB-46FE-875F-BE4EF0EA45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52072" y="730250"/>
            <a:ext cx="5258485" cy="11623676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B54064-AA10-40B7-B630-55D6E0F3D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618" y="730250"/>
            <a:ext cx="15470614" cy="11623676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3BC372-86F4-4A5B-8C5B-9256C0150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D782-F8EF-4289-ACD9-FE399E255DC0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751607-DBBB-4564-ACDC-C44E1B3EF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ACA4BA-9FFB-4AAC-9BE4-FDBB236A7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73E3B-96DC-4A11-9EF5-170E6D3924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58453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32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57D987-A0DE-43AF-84AE-22BF44244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619" y="730251"/>
            <a:ext cx="21033938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5560F1D-8DCB-484D-A00D-EA91F9714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619" y="3651250"/>
            <a:ext cx="21033938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14AB35-5200-46B0-84EA-E805FB6A25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618" y="12712701"/>
            <a:ext cx="548711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ED782-F8EF-4289-ACD9-FE399E255DC0}" type="datetimeFigureOut">
              <a:rPr lang="ru-RU" smtClean="0"/>
              <a:t>24.05.2024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B35060-6117-4145-93C4-2FB4141E68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8252" y="12712701"/>
            <a:ext cx="8230672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3D1177-55A8-4508-B5F6-9A306D386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73E3B-96DC-4A11-9EF5-170E6D3924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0746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Relationship Id="rId9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1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1361" y="4813300"/>
            <a:ext cx="16313072" cy="3471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Разработка кроссплатформенного программного решения для управления общежитием</a:t>
            </a:r>
            <a:endParaRPr lang="en-US" sz="6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6990490" y="9017000"/>
            <a:ext cx="6507447" cy="4487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4000" dirty="0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Команда проекта: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en-US" sz="4000" dirty="0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Игнатьев Николай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en-US" sz="4000" dirty="0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Здерева Евгения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en-US" sz="4000" dirty="0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Струщенко Вячеслав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en-US" sz="4000" dirty="0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Кондакова Серафима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337667" y="609600"/>
            <a:ext cx="6515914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600" dirty="0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Проблема</a:t>
            </a:r>
            <a:endParaRPr lang="en-US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1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78222" y="1778000"/>
            <a:ext cx="14225778" cy="9906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337667" y="609600"/>
            <a:ext cx="6515914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600" dirty="0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Проблема</a:t>
            </a:r>
            <a:endParaRPr lang="en-US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1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78222" y="1778000"/>
            <a:ext cx="14225778" cy="9906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337667" y="609600"/>
            <a:ext cx="6515914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600" dirty="0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Проблема</a:t>
            </a:r>
            <a:endParaRPr lang="en-US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1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78222" y="1778000"/>
            <a:ext cx="14225778" cy="9906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140292" y="609600"/>
            <a:ext cx="8713289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600" dirty="0" err="1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Актуальность</a:t>
            </a:r>
            <a:endParaRPr lang="en-US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1270159" y="2286000"/>
            <a:ext cx="14225778" cy="9906000"/>
          </a:xfrm>
          <a:prstGeom prst="roundRect">
            <a:avLst>
              <a:gd name="adj" fmla="val 636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2032254" y="3048000"/>
            <a:ext cx="12870942" cy="8299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Необходимость улучшения управления общежитиями с помощью современных </a:t>
            </a:r>
            <a:r>
              <a:rPr lang="en-US" sz="4000" dirty="0" err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технологий</a:t>
            </a: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.</a:t>
            </a:r>
            <a:endParaRPr lang="ru-RU" sz="4000" dirty="0">
              <a:solidFill>
                <a:srgbClr val="000000">
                  <a:alpha val="100000"/>
                </a:srgbClr>
              </a:solidFill>
              <a:latin typeface="Arial" panose="020B0604020202020204" pitchFamily="34" charset="0"/>
              <a:ea typeface="Inter Regular" pitchFamily="34" charset="-122"/>
              <a:cs typeface="Arial" panose="020B0604020202020204" pitchFamily="34" charset="0"/>
            </a:endParaRPr>
          </a:p>
          <a:p>
            <a:pPr marL="0" indent="0" algn="l">
              <a:buNone/>
            </a:pPr>
            <a:endParaRPr lang="ru-RU" sz="4000" dirty="0">
              <a:solidFill>
                <a:srgbClr val="000000">
                  <a:alpha val="100000"/>
                </a:srgbClr>
              </a:solidFill>
              <a:latin typeface="Arial" panose="020B0604020202020204" pitchFamily="34" charset="0"/>
              <a:ea typeface="Inter Regular" pitchFamily="34" charset="-122"/>
              <a:cs typeface="Arial" panose="020B0604020202020204" pitchFamily="34" charset="0"/>
            </a:endParaRPr>
          </a:p>
          <a:p>
            <a:r>
              <a:rPr lang="en-US" sz="4000" dirty="0" err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Ожидание</a:t>
            </a: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 </a:t>
            </a:r>
            <a:r>
              <a:rPr lang="en-US" sz="4000" dirty="0" err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студентов</a:t>
            </a: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 и </a:t>
            </a:r>
            <a:r>
              <a:rPr lang="en-US" sz="4000" dirty="0" err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сотрудников</a:t>
            </a: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 - </a:t>
            </a:r>
            <a:r>
              <a:rPr lang="en-US" sz="4000" dirty="0" err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удобства</a:t>
            </a: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, </a:t>
            </a:r>
            <a:r>
              <a:rPr lang="en-US" sz="4000" dirty="0" err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эффективности</a:t>
            </a: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 и </a:t>
            </a:r>
            <a:r>
              <a:rPr lang="en-US" sz="4000" dirty="0" err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качественного</a:t>
            </a: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 </a:t>
            </a:r>
            <a:r>
              <a:rPr lang="en-US" sz="4000" dirty="0" err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обслуживания</a:t>
            </a: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 в </a:t>
            </a:r>
            <a:r>
              <a:rPr lang="en-US" sz="4000" dirty="0" err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общежитиях</a:t>
            </a: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.</a:t>
            </a:r>
            <a:endParaRPr lang="ru-RU" sz="4000" dirty="0">
              <a:solidFill>
                <a:srgbClr val="000000">
                  <a:alpha val="100000"/>
                </a:srgbClr>
              </a:solidFill>
              <a:latin typeface="Arial" panose="020B0604020202020204" pitchFamily="34" charset="0"/>
              <a:ea typeface="Inter Regular" pitchFamily="34" charset="-122"/>
              <a:cs typeface="Arial" panose="020B0604020202020204" pitchFamily="34" charset="0"/>
            </a:endParaRPr>
          </a:p>
          <a:p>
            <a:pPr marL="0" indent="0" algn="l">
              <a:buNone/>
            </a:pPr>
            <a:endParaRPr lang="ru-RU" sz="4000" dirty="0">
              <a:solidFill>
                <a:srgbClr val="000000">
                  <a:alpha val="100000"/>
                </a:srgbClr>
              </a:solidFill>
              <a:latin typeface="Arial" panose="020B0604020202020204" pitchFamily="34" charset="0"/>
              <a:ea typeface="Inter Regular" pitchFamily="34" charset="-122"/>
              <a:cs typeface="Arial" panose="020B0604020202020204" pitchFamily="34" charset="0"/>
            </a:endParaRPr>
          </a:p>
          <a:p>
            <a:r>
              <a:rPr lang="en-US" sz="4000" dirty="0" err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На</a:t>
            </a: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 </a:t>
            </a:r>
            <a:r>
              <a:rPr lang="en-US" sz="4000" dirty="0" err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краевом</a:t>
            </a: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 </a:t>
            </a:r>
            <a:r>
              <a:rPr lang="en-US" sz="4000" dirty="0" err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методическое</a:t>
            </a: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 </a:t>
            </a:r>
            <a:r>
              <a:rPr lang="en-US" sz="4000" dirty="0" err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объединении</a:t>
            </a: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 11 </a:t>
            </a:r>
            <a:r>
              <a:rPr lang="en-US" sz="4000" dirty="0" err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октября</a:t>
            </a: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 , </a:t>
            </a:r>
            <a:r>
              <a:rPr lang="en-US" sz="4000" dirty="0" err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было</a:t>
            </a: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 </a:t>
            </a:r>
            <a:r>
              <a:rPr lang="en-US" sz="4000" dirty="0" err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принято</a:t>
            </a: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 </a:t>
            </a:r>
            <a:r>
              <a:rPr lang="en-US" sz="4000" dirty="0" err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решение</a:t>
            </a: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 о </a:t>
            </a:r>
            <a:r>
              <a:rPr lang="en-US" sz="4000" dirty="0" err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необходимости</a:t>
            </a: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 </a:t>
            </a:r>
            <a:r>
              <a:rPr lang="en-US" sz="4000" dirty="0" err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внедрения</a:t>
            </a: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 </a:t>
            </a:r>
            <a:r>
              <a:rPr lang="ru-RU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ПО </a:t>
            </a:r>
            <a:r>
              <a:rPr lang="en-US" sz="4000" dirty="0" err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способствующее</a:t>
            </a: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 </a:t>
            </a:r>
            <a:r>
              <a:rPr lang="en-US" sz="4000" dirty="0" err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снижению</a:t>
            </a: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 </a:t>
            </a:r>
            <a:r>
              <a:rPr lang="en-US" sz="4000" dirty="0" err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основного</a:t>
            </a: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 </a:t>
            </a:r>
            <a:r>
              <a:rPr lang="en-US" sz="4000" dirty="0" err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бумажного</a:t>
            </a: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 </a:t>
            </a:r>
            <a:r>
              <a:rPr lang="en-US" sz="4000" dirty="0" err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документооборота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650767" y="609600"/>
            <a:ext cx="11825704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9600" dirty="0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Целевая аудитория  </a:t>
            </a:r>
            <a:endParaRPr lang="en-US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770712" y="2489200"/>
            <a:ext cx="13524365" cy="9906000"/>
          </a:xfrm>
          <a:prstGeom prst="roundRect">
            <a:avLst>
              <a:gd name="adj" fmla="val 636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6" name="TextBox 5"/>
          <p:cNvSpPr txBox="1"/>
          <p:nvPr/>
        </p:nvSpPr>
        <p:spPr>
          <a:xfrm>
            <a:off x="4666831" y="4368800"/>
            <a:ext cx="1059661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Университеты и колледжи, в которых имеются общежития;</a:t>
            </a:r>
          </a:p>
          <a:p>
            <a:pPr lvl="0"/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Сотрудники и коменданты общежитий;</a:t>
            </a:r>
          </a:p>
          <a:p>
            <a:pPr lvl="0"/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Руководители;</a:t>
            </a:r>
          </a:p>
          <a:p>
            <a:pPr lvl="0"/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Студенты.</a:t>
            </a:r>
          </a:p>
          <a:p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403878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650767" y="609600"/>
            <a:ext cx="11825704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9600" dirty="0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Каналы сбыта </a:t>
            </a:r>
            <a:endParaRPr lang="en-US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770712" y="2489200"/>
            <a:ext cx="14204303" cy="9906000"/>
          </a:xfrm>
          <a:prstGeom prst="roundRect">
            <a:avLst>
              <a:gd name="adj" fmla="val 636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6" name="TextBox 5"/>
          <p:cNvSpPr txBox="1"/>
          <p:nvPr/>
        </p:nvSpPr>
        <p:spPr>
          <a:xfrm>
            <a:off x="3514952" y="4368800"/>
            <a:ext cx="1327052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Участие в конференциях и выставках, связанных с высшим образованием.</a:t>
            </a:r>
          </a:p>
          <a:p>
            <a:endParaRPr lang="ru-RU" sz="4000" dirty="0"/>
          </a:p>
          <a:p>
            <a:r>
              <a:rPr lang="ru-RU" sz="4000" dirty="0"/>
              <a:t>Использование социальных сетей и онлайн-рекламы</a:t>
            </a:r>
          </a:p>
        </p:txBody>
      </p:sp>
    </p:spTree>
    <p:extLst>
      <p:ext uri="{BB962C8B-B14F-4D97-AF65-F5344CB8AC3E}">
        <p14:creationId xmlns:p14="http://schemas.microsoft.com/office/powerpoint/2010/main" val="2739201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92511" y="609600"/>
            <a:ext cx="936107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600" dirty="0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Наше решение</a:t>
            </a:r>
            <a:endParaRPr lang="en-US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1270159" y="2286000"/>
            <a:ext cx="14225778" cy="9906000"/>
          </a:xfrm>
          <a:prstGeom prst="roundRect">
            <a:avLst>
              <a:gd name="adj" fmla="val 636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2032254" y="3048000"/>
            <a:ext cx="12870942" cy="3877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«Система О» - система упрощает организацию и управление процессов, а также предоставляет актуальную информацию для сотрудников и проживающих.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1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1318" y="6019800"/>
            <a:ext cx="8357645" cy="5600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058737-3848-47E3-82C8-CB87FC7EF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D7CB23A-B5E7-453E-ABF6-52D21C804E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17691"/>
            <a:ext cx="24384000" cy="13716002"/>
          </a:xfrm>
        </p:spPr>
      </p:pic>
    </p:spTree>
    <p:extLst>
      <p:ext uri="{BB962C8B-B14F-4D97-AF65-F5344CB8AC3E}">
        <p14:creationId xmlns:p14="http://schemas.microsoft.com/office/powerpoint/2010/main" val="65252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6DB00B-7C47-4803-A6B6-48AFF06FF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A787067-FE5F-404C-A4E1-07E3C9B89A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0"/>
            <a:ext cx="24383996" cy="13716000"/>
          </a:xfrm>
        </p:spPr>
      </p:pic>
    </p:spTree>
    <p:extLst>
      <p:ext uri="{BB962C8B-B14F-4D97-AF65-F5344CB8AC3E}">
        <p14:creationId xmlns:p14="http://schemas.microsoft.com/office/powerpoint/2010/main" val="2389098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DBD358-33C0-4F49-84B7-4A702EBE6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35FB780-818C-4D91-9F25-2A303A956F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0"/>
            <a:ext cx="24383996" cy="13716000"/>
          </a:xfrm>
        </p:spPr>
      </p:pic>
    </p:spTree>
    <p:extLst>
      <p:ext uri="{BB962C8B-B14F-4D97-AF65-F5344CB8AC3E}">
        <p14:creationId xmlns:p14="http://schemas.microsoft.com/office/powerpoint/2010/main" val="3992849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BF8AB5-82C6-4EAF-9200-33F1C9647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C367699-4C71-4DEF-BB69-16F0FBC266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-1"/>
            <a:ext cx="24384000" cy="13716002"/>
          </a:xfrm>
        </p:spPr>
      </p:pic>
    </p:spTree>
    <p:extLst>
      <p:ext uri="{BB962C8B-B14F-4D97-AF65-F5344CB8AC3E}">
        <p14:creationId xmlns:p14="http://schemas.microsoft.com/office/powerpoint/2010/main" val="1552554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452977-8DA7-4674-B90F-9C78FA049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F9A9C47-D3B2-40B9-8D59-F630333349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0"/>
            <a:ext cx="24383996" cy="13716000"/>
          </a:xfrm>
        </p:spPr>
      </p:pic>
    </p:spTree>
    <p:extLst>
      <p:ext uri="{BB962C8B-B14F-4D97-AF65-F5344CB8AC3E}">
        <p14:creationId xmlns:p14="http://schemas.microsoft.com/office/powerpoint/2010/main" val="2155077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679610" y="609600"/>
            <a:ext cx="10173972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600" dirty="0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Цветовая гамма</a:t>
            </a:r>
            <a:endParaRPr lang="en-US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1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97175" y="2286000"/>
            <a:ext cx="14225778" cy="9906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679610" y="609600"/>
            <a:ext cx="10173972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600" dirty="0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Цветовая гамма</a:t>
            </a:r>
            <a:endParaRPr lang="en-US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1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97175" y="2286000"/>
            <a:ext cx="14225778" cy="9906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679610" y="609600"/>
            <a:ext cx="10173972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600" dirty="0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Цветовая гамма</a:t>
            </a:r>
            <a:endParaRPr lang="en-US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1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97175" y="2286000"/>
            <a:ext cx="14225778" cy="9906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390899" y="609600"/>
            <a:ext cx="9462683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600" dirty="0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Клиент-сервер</a:t>
            </a:r>
            <a:endParaRPr lang="en-US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1270159" y="2286000"/>
            <a:ext cx="14225778" cy="9906000"/>
          </a:xfrm>
          <a:prstGeom prst="roundRect">
            <a:avLst>
              <a:gd name="adj" fmla="val 636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2032254" y="3048000"/>
            <a:ext cx="12870942" cy="2925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Архитектура клиент-сервер - это модель взаимодействия компьютеров, где сервер предоставляет услуги или ресурсы, а клиенты обращаются к серверу за ними через сеть.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1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99775" y="6134100"/>
            <a:ext cx="9373772" cy="5067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192099" y="609600"/>
            <a:ext cx="4661483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600" dirty="0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Клиент</a:t>
            </a:r>
            <a:endParaRPr lang="en-US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1270159" y="2286000"/>
            <a:ext cx="14225778" cy="9906000"/>
          </a:xfrm>
          <a:prstGeom prst="roundRect">
            <a:avLst>
              <a:gd name="adj" fmla="val 6369"/>
            </a:avLst>
          </a:prstGeom>
          <a:solidFill>
            <a:srgbClr val="FFFFFF">
              <a:alpha val="75000"/>
            </a:srgbClr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5" name="Text 2"/>
          <p:cNvSpPr/>
          <p:nvPr/>
        </p:nvSpPr>
        <p:spPr>
          <a:xfrm>
            <a:off x="2032254" y="3048000"/>
            <a:ext cx="12870942" cy="3725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Клиентское приложение может распространяться на различных Dekstop-системах таких как: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342900" algn="l">
              <a:buSzPct val="100000"/>
              <a:buChar char="•"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Windows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342900" algn="l">
              <a:buSzPct val="100000"/>
              <a:buChar char="•"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Linux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342900" algn="l">
              <a:buSzPct val="100000"/>
              <a:buChar char="•"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macOS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1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870134" y="4356100"/>
            <a:ext cx="4864708" cy="5334000"/>
          </a:xfrm>
          <a:prstGeom prst="rect">
            <a:avLst/>
          </a:prstGeom>
        </p:spPr>
      </p:pic>
      <p:pic>
        <p:nvPicPr>
          <p:cNvPr id="7" name="Image 2" descr=" 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296137" y="7239000"/>
            <a:ext cx="5106038" cy="510540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6324" y="7343874"/>
            <a:ext cx="3847619" cy="45587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192099" y="609600"/>
            <a:ext cx="4661483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600" dirty="0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Клиент</a:t>
            </a:r>
            <a:endParaRPr lang="en-US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1270159" y="2286000"/>
            <a:ext cx="14225778" cy="9906000"/>
          </a:xfrm>
          <a:prstGeom prst="roundRect">
            <a:avLst>
              <a:gd name="adj" fmla="val 636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2032254" y="3048000"/>
            <a:ext cx="12870942" cy="3865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Для удаленых пользователей решение имеет приложение для мобильных устройств на базе: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342900" algn="l">
              <a:buSzPct val="100000"/>
              <a:buChar char="•"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Android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342900" algn="l">
              <a:buSzPct val="100000"/>
              <a:buChar char="•"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iOS 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1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69534" y="4572000"/>
            <a:ext cx="5334667" cy="5334000"/>
          </a:xfrm>
          <a:prstGeom prst="rect">
            <a:avLst/>
          </a:prstGeom>
        </p:spPr>
      </p:pic>
      <p:pic>
        <p:nvPicPr>
          <p:cNvPr id="7" name="Image 2" descr=" 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076784" y="6375400"/>
            <a:ext cx="5017127" cy="5613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36088" y="609600"/>
            <a:ext cx="11517494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9600" dirty="0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Передача данных</a:t>
            </a:r>
            <a:endParaRPr lang="en-US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1054028" y="2286000"/>
            <a:ext cx="14225778" cy="9906000"/>
          </a:xfrm>
          <a:prstGeom prst="roundRect">
            <a:avLst>
              <a:gd name="adj" fmla="val 636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2032254" y="3048000"/>
            <a:ext cx="12870942" cy="2709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Обмен данными между клиентом и </a:t>
            </a:r>
            <a:r>
              <a:rPr lang="en-US" sz="4000" dirty="0" err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сервером</a:t>
            </a: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 </a:t>
            </a:r>
            <a:r>
              <a:rPr lang="ru-RU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на</a:t>
            </a: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 </a:t>
            </a:r>
            <a:r>
              <a:rPr lang="ru-RU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предприятии</a:t>
            </a: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 </a:t>
            </a:r>
            <a:r>
              <a:rPr lang="ru-RU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происходить</a:t>
            </a: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 </a:t>
            </a:r>
            <a:r>
              <a:rPr lang="ru-RU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через интернет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1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6349" y="7239000"/>
            <a:ext cx="5474384" cy="5473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867708" y="609600"/>
            <a:ext cx="6985873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600" dirty="0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Внедрение</a:t>
            </a:r>
            <a:endParaRPr lang="en-US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1270159" y="2286000"/>
            <a:ext cx="15953812" cy="8154785"/>
          </a:xfrm>
          <a:prstGeom prst="roundRect">
            <a:avLst>
              <a:gd name="adj" fmla="val 636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2032254" y="3048000"/>
            <a:ext cx="14426946" cy="4167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54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После оформления подписки, учебное заведение производит регистрацию своих сотрудников и студентов в систему.</a:t>
            </a:r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79810" y="609600"/>
            <a:ext cx="9373772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600" dirty="0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Обслуживание</a:t>
            </a:r>
            <a:endParaRPr lang="en-US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1270159" y="2286000"/>
            <a:ext cx="14225778" cy="9906000"/>
          </a:xfrm>
          <a:prstGeom prst="roundRect">
            <a:avLst>
              <a:gd name="adj" fmla="val 636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2032254" y="3048000"/>
            <a:ext cx="12870942" cy="2709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Для обслуживания данного решения требуется 2 сотрудника: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342900" algn="l">
              <a:buSzPct val="100000"/>
              <a:buChar char="•"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Администратор базы данных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342900" algn="l">
              <a:buSzPct val="100000"/>
              <a:buChar char="•"/>
            </a:pPr>
            <a:r>
              <a:rPr lang="en-US" sz="40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Системный администратор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1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77797" y="5130800"/>
            <a:ext cx="4750394" cy="4749800"/>
          </a:xfrm>
          <a:prstGeom prst="rect">
            <a:avLst/>
          </a:prstGeom>
        </p:spPr>
      </p:pic>
      <p:pic>
        <p:nvPicPr>
          <p:cNvPr id="7" name="Image 2" descr=" 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25791" y="7505700"/>
            <a:ext cx="4267733" cy="426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88" y="1"/>
            <a:ext cx="24383874" cy="137142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886" y="151407"/>
            <a:ext cx="12561018" cy="2810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ru-RU" sz="9598" dirty="0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Конкуренты и наше предложение</a:t>
            </a:r>
            <a:endParaRPr lang="en-US" sz="959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087302"/>
              </p:ext>
            </p:extLst>
          </p:nvPr>
        </p:nvGraphicFramePr>
        <p:xfrm>
          <a:off x="2316525" y="3558212"/>
          <a:ext cx="20344692" cy="99391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022465">
                  <a:extLst>
                    <a:ext uri="{9D8B030D-6E8A-4147-A177-3AD203B41FA5}">
                      <a16:colId xmlns:a16="http://schemas.microsoft.com/office/drawing/2014/main" val="3131051052"/>
                    </a:ext>
                  </a:extLst>
                </a:gridCol>
                <a:gridCol w="3874560">
                  <a:extLst>
                    <a:ext uri="{9D8B030D-6E8A-4147-A177-3AD203B41FA5}">
                      <a16:colId xmlns:a16="http://schemas.microsoft.com/office/drawing/2014/main" val="1470263196"/>
                    </a:ext>
                  </a:extLst>
                </a:gridCol>
                <a:gridCol w="4516705">
                  <a:extLst>
                    <a:ext uri="{9D8B030D-6E8A-4147-A177-3AD203B41FA5}">
                      <a16:colId xmlns:a16="http://schemas.microsoft.com/office/drawing/2014/main" val="923930510"/>
                    </a:ext>
                  </a:extLst>
                </a:gridCol>
                <a:gridCol w="3930962">
                  <a:extLst>
                    <a:ext uri="{9D8B030D-6E8A-4147-A177-3AD203B41FA5}">
                      <a16:colId xmlns:a16="http://schemas.microsoft.com/office/drawing/2014/main" val="1553831585"/>
                    </a:ext>
                  </a:extLst>
                </a:gridCol>
              </a:tblGrid>
              <a:tr h="662608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4000" dirty="0">
                          <a:effectLst/>
                        </a:rPr>
                        <a:t>Факторы 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4000" dirty="0">
                          <a:effectLst/>
                        </a:rPr>
                        <a:t>Конкурентоспособности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4000" dirty="0">
                          <a:effectLst/>
                        </a:rPr>
                        <a:t>(примерный перечень)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4000">
                          <a:effectLst/>
                        </a:rPr>
                        <a:t>Ваша организация 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4000">
                          <a:effectLst/>
                        </a:rPr>
                        <a:t>(по бизнес-плану)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4000">
                          <a:effectLst/>
                        </a:rPr>
                        <a:t>Конкуренты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905830"/>
                  </a:ext>
                </a:extLst>
              </a:tr>
              <a:tr h="1987826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x-none" sz="4000" kern="1600">
                          <a:effectLst/>
                        </a:rPr>
                        <a:t>А </a:t>
                      </a:r>
                      <a:endParaRPr lang="ru-RU" sz="2800" kern="16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4000">
                          <a:effectLst/>
                        </a:rPr>
                        <a:t>1С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4000" dirty="0">
                          <a:effectLst/>
                        </a:rPr>
                        <a:t>Б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4000" dirty="0">
                          <a:effectLst/>
                        </a:rPr>
                        <a:t>1С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extLst>
                  <a:ext uri="{0D108BD9-81ED-4DB2-BD59-A6C34878D82A}">
                    <a16:rowId xmlns:a16="http://schemas.microsoft.com/office/drawing/2014/main" val="1919923303"/>
                  </a:ext>
                </a:extLst>
              </a:tr>
              <a:tr h="1325218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180340" algn="l"/>
                        </a:tabLst>
                      </a:pPr>
                      <a:r>
                        <a:rPr lang="ru-RU" sz="2800">
                          <a:effectLst/>
                        </a:rPr>
                        <a:t>Продукт 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4000">
                          <a:effectLst/>
                        </a:rPr>
                        <a:t>Система О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x-none" sz="4000" kern="1600">
                          <a:effectLst/>
                        </a:rPr>
                        <a:t>ITworks: Общежитие</a:t>
                      </a:r>
                      <a:endParaRPr lang="ru-RU" sz="2800" b="1" kern="16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4000">
                          <a:effectLst/>
                        </a:rPr>
                        <a:t>Комкон: Общежитие 8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extLst>
                  <a:ext uri="{0D108BD9-81ED-4DB2-BD59-A6C34878D82A}">
                    <a16:rowId xmlns:a16="http://schemas.microsoft.com/office/drawing/2014/main" val="1496082369"/>
                  </a:ext>
                </a:extLst>
              </a:tr>
              <a:tr h="66260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4000">
                          <a:effectLst/>
                        </a:rPr>
                        <a:t>1.1 Надежность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4000">
                          <a:effectLst/>
                        </a:rPr>
                        <a:t>есть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4000">
                          <a:effectLst/>
                        </a:rPr>
                        <a:t>есть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4000">
                          <a:effectLst/>
                        </a:rPr>
                        <a:t>есть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extLst>
                  <a:ext uri="{0D108BD9-81ED-4DB2-BD59-A6C34878D82A}">
                    <a16:rowId xmlns:a16="http://schemas.microsoft.com/office/drawing/2014/main" val="2329574492"/>
                  </a:ext>
                </a:extLst>
              </a:tr>
              <a:tr h="66260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4000">
                          <a:effectLst/>
                        </a:rPr>
                        <a:t>1.2 Стиль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4000">
                          <a:effectLst/>
                        </a:rPr>
                        <a:t>настраиваемый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4000">
                          <a:effectLst/>
                        </a:rPr>
                        <a:t>встроенный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4000">
                          <a:effectLst/>
                        </a:rPr>
                        <a:t>встроенный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extLst>
                  <a:ext uri="{0D108BD9-81ED-4DB2-BD59-A6C34878D82A}">
                    <a16:rowId xmlns:a16="http://schemas.microsoft.com/office/drawing/2014/main" val="1374292428"/>
                  </a:ext>
                </a:extLst>
              </a:tr>
              <a:tr h="66260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4000">
                          <a:effectLst/>
                        </a:rPr>
                        <a:t>1.3 Гарантийное обслуживание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4000">
                          <a:effectLst/>
                        </a:rPr>
                        <a:t>есть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4000">
                          <a:effectLst/>
                        </a:rPr>
                        <a:t>есть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4000">
                          <a:effectLst/>
                        </a:rPr>
                        <a:t>есть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extLst>
                  <a:ext uri="{0D108BD9-81ED-4DB2-BD59-A6C34878D82A}">
                    <a16:rowId xmlns:a16="http://schemas.microsoft.com/office/drawing/2014/main" val="1332012420"/>
                  </a:ext>
                </a:extLst>
              </a:tr>
              <a:tr h="66260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4000">
                          <a:effectLst/>
                        </a:rPr>
                        <a:t>1.4 Широта ассортимента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4000">
                          <a:effectLst/>
                        </a:rPr>
                        <a:t>настраиваемая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4000">
                          <a:effectLst/>
                        </a:rPr>
                        <a:t>настраиваемая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4000">
                          <a:effectLst/>
                        </a:rPr>
                        <a:t>настраиваемая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extLst>
                  <a:ext uri="{0D108BD9-81ED-4DB2-BD59-A6C34878D82A}">
                    <a16:rowId xmlns:a16="http://schemas.microsoft.com/office/drawing/2014/main" val="1516917550"/>
                  </a:ext>
                </a:extLst>
              </a:tr>
              <a:tr h="66260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4000">
                          <a:effectLst/>
                        </a:rPr>
                        <a:t>Итого: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4000">
                          <a:effectLst/>
                        </a:rPr>
                        <a:t>-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4000">
                          <a:effectLst/>
                        </a:rPr>
                        <a:t>-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4000">
                          <a:effectLst/>
                        </a:rPr>
                        <a:t>-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extLst>
                  <a:ext uri="{0D108BD9-81ED-4DB2-BD59-A6C34878D82A}">
                    <a16:rowId xmlns:a16="http://schemas.microsoft.com/office/drawing/2014/main" val="2914396355"/>
                  </a:ext>
                </a:extLst>
              </a:tr>
              <a:tr h="662608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180340" algn="l"/>
                        </a:tabLst>
                      </a:pPr>
                      <a:r>
                        <a:rPr lang="ru-RU" sz="2800">
                          <a:effectLst/>
                        </a:rPr>
                        <a:t> Цена 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4000" dirty="0">
                          <a:effectLst/>
                        </a:rPr>
                        <a:t>38</a:t>
                      </a:r>
                      <a:r>
                        <a:rPr lang="ru-RU" sz="4000" baseline="0" dirty="0">
                          <a:effectLst/>
                        </a:rPr>
                        <a:t> </a:t>
                      </a:r>
                      <a:r>
                        <a:rPr lang="ru-RU" sz="4000" dirty="0">
                          <a:effectLst/>
                        </a:rPr>
                        <a:t>000руб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4000">
                          <a:effectLst/>
                        </a:rPr>
                        <a:t>45 000руб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4000">
                          <a:effectLst/>
                        </a:rPr>
                        <a:t>48 000руб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extLst>
                  <a:ext uri="{0D108BD9-81ED-4DB2-BD59-A6C34878D82A}">
                    <a16:rowId xmlns:a16="http://schemas.microsoft.com/office/drawing/2014/main" val="3337701349"/>
                  </a:ext>
                </a:extLst>
              </a:tr>
              <a:tr h="198782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4000">
                          <a:effectLst/>
                        </a:rPr>
                        <a:t>2.1 Скидки и цены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4000" dirty="0">
                          <a:effectLst/>
                        </a:rPr>
                        <a:t>-10% Перед началом учебного года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4000">
                          <a:effectLst/>
                        </a:rPr>
                        <a:t>-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4000" dirty="0">
                          <a:effectLst/>
                        </a:rPr>
                        <a:t>-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37160" marR="137160" marT="0" marB="0" anchor="ctr"/>
                </a:tc>
                <a:extLst>
                  <a:ext uri="{0D108BD9-81ED-4DB2-BD59-A6C34878D82A}">
                    <a16:rowId xmlns:a16="http://schemas.microsoft.com/office/drawing/2014/main" val="167534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10681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70338"/>
            <a:ext cx="24387048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430003" y="609600"/>
            <a:ext cx="5423578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600" dirty="0">
                <a:solidFill>
                  <a:srgbClr val="FFFFFF">
                    <a:alpha val="100000"/>
                  </a:srgbClr>
                </a:solidFill>
                <a:latin typeface="Arial" panose="020B0604020202020204" pitchFamily="34" charset="0"/>
                <a:ea typeface="Inter Regular" pitchFamily="34" charset="-122"/>
                <a:cs typeface="Arial" panose="020B0604020202020204" pitchFamily="34" charset="0"/>
              </a:rPr>
              <a:t>Затраты</a:t>
            </a:r>
            <a:endParaRPr lang="en-US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74786" y="2356337"/>
            <a:ext cx="23378796" cy="11218986"/>
          </a:xfrm>
          <a:prstGeom prst="roundRect">
            <a:avLst>
              <a:gd name="adj" fmla="val 636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1981448" y="2806700"/>
            <a:ext cx="12058040" cy="2239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80146"/>
              </p:ext>
            </p:extLst>
          </p:nvPr>
        </p:nvGraphicFramePr>
        <p:xfrm>
          <a:off x="1172556" y="2489200"/>
          <a:ext cx="12450982" cy="486373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7900958">
                  <a:extLst>
                    <a:ext uri="{9D8B030D-6E8A-4147-A177-3AD203B41FA5}">
                      <a16:colId xmlns:a16="http://schemas.microsoft.com/office/drawing/2014/main" val="1623658367"/>
                    </a:ext>
                  </a:extLst>
                </a:gridCol>
                <a:gridCol w="1564030">
                  <a:extLst>
                    <a:ext uri="{9D8B030D-6E8A-4147-A177-3AD203B41FA5}">
                      <a16:colId xmlns:a16="http://schemas.microsoft.com/office/drawing/2014/main" val="581410378"/>
                    </a:ext>
                  </a:extLst>
                </a:gridCol>
                <a:gridCol w="1391987">
                  <a:extLst>
                    <a:ext uri="{9D8B030D-6E8A-4147-A177-3AD203B41FA5}">
                      <a16:colId xmlns:a16="http://schemas.microsoft.com/office/drawing/2014/main" val="42835775"/>
                    </a:ext>
                  </a:extLst>
                </a:gridCol>
                <a:gridCol w="1594007">
                  <a:extLst>
                    <a:ext uri="{9D8B030D-6E8A-4147-A177-3AD203B41FA5}">
                      <a16:colId xmlns:a16="http://schemas.microsoft.com/office/drawing/2014/main" val="569130087"/>
                    </a:ext>
                  </a:extLst>
                </a:gridCol>
              </a:tblGrid>
              <a:tr h="92818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Наименование / технические характеристики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Количество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Цена, руб.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Всего, руб.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64507845"/>
                  </a:ext>
                </a:extLst>
              </a:tr>
              <a:tr h="102737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Персональный компьютер в сборе </a:t>
                      </a:r>
                      <a:r>
                        <a:rPr lang="en-US" sz="2800">
                          <a:effectLst/>
                        </a:rPr>
                        <a:t>ARDOR GAMING RAGE H</a:t>
                      </a:r>
                      <a:r>
                        <a:rPr lang="ru-RU" sz="2800">
                          <a:effectLst/>
                        </a:rPr>
                        <a:t>335 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4 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97 999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391 996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78379475"/>
                  </a:ext>
                </a:extLst>
              </a:tr>
              <a:tr h="5136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Монитор </a:t>
                      </a:r>
                      <a:r>
                        <a:rPr lang="en-US" sz="2800">
                          <a:effectLst/>
                        </a:rPr>
                        <a:t>ARDOR GAMING PORTAL AF24H1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4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13 499 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53 996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22426090"/>
                  </a:ext>
                </a:extLst>
              </a:tr>
              <a:tr h="5136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Клавиатура </a:t>
                      </a:r>
                      <a:r>
                        <a:rPr lang="en-US" sz="2800">
                          <a:effectLst/>
                        </a:rPr>
                        <a:t>ARDOR GAMING Blade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4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4 599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18 396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2507463"/>
                  </a:ext>
                </a:extLst>
              </a:tr>
              <a:tr h="5136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Компьютерная мышка проводная </a:t>
                      </a:r>
                      <a:r>
                        <a:rPr lang="en-US" sz="2800">
                          <a:effectLst/>
                        </a:rPr>
                        <a:t>ARDOR GAMING Fury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4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1 699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6 796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8188156"/>
                  </a:ext>
                </a:extLst>
              </a:tr>
              <a:tr h="5136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МФУ струйный </a:t>
                      </a:r>
                      <a:r>
                        <a:rPr lang="en-US" sz="2800">
                          <a:effectLst/>
                        </a:rPr>
                        <a:t>Canon PIXMA G</a:t>
                      </a:r>
                      <a:r>
                        <a:rPr lang="ru-RU" sz="2800">
                          <a:effectLst/>
                        </a:rPr>
                        <a:t>3420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1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22 599 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22 599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95960360"/>
                  </a:ext>
                </a:extLst>
              </a:tr>
              <a:tr h="5136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Итог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 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 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</a:rPr>
                        <a:t>493 783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67591279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658469"/>
              </p:ext>
            </p:extLst>
          </p:nvPr>
        </p:nvGraphicFramePr>
        <p:xfrm>
          <a:off x="9916649" y="7732272"/>
          <a:ext cx="13084028" cy="5463711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8302667">
                  <a:extLst>
                    <a:ext uri="{9D8B030D-6E8A-4147-A177-3AD203B41FA5}">
                      <a16:colId xmlns:a16="http://schemas.microsoft.com/office/drawing/2014/main" val="2810228919"/>
                    </a:ext>
                  </a:extLst>
                </a:gridCol>
                <a:gridCol w="1643550">
                  <a:extLst>
                    <a:ext uri="{9D8B030D-6E8A-4147-A177-3AD203B41FA5}">
                      <a16:colId xmlns:a16="http://schemas.microsoft.com/office/drawing/2014/main" val="3586457676"/>
                    </a:ext>
                  </a:extLst>
                </a:gridCol>
                <a:gridCol w="1462760">
                  <a:extLst>
                    <a:ext uri="{9D8B030D-6E8A-4147-A177-3AD203B41FA5}">
                      <a16:colId xmlns:a16="http://schemas.microsoft.com/office/drawing/2014/main" val="3623887339"/>
                    </a:ext>
                  </a:extLst>
                </a:gridCol>
                <a:gridCol w="1675051">
                  <a:extLst>
                    <a:ext uri="{9D8B030D-6E8A-4147-A177-3AD203B41FA5}">
                      <a16:colId xmlns:a16="http://schemas.microsoft.com/office/drawing/2014/main" val="1165496036"/>
                    </a:ext>
                  </a:extLst>
                </a:gridCol>
              </a:tblGrid>
              <a:tr h="121415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Наименование / технические характеристики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Количество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Цена, руб.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Всего, руб.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2571341"/>
                  </a:ext>
                </a:extLst>
              </a:tr>
              <a:tr h="60707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Офисный стол (160</a:t>
                      </a:r>
                      <a:r>
                        <a:rPr lang="en-US" sz="2800">
                          <a:effectLst/>
                        </a:rPr>
                        <a:t>x75x90 </a:t>
                      </a:r>
                      <a:r>
                        <a:rPr lang="ru-RU" sz="2800">
                          <a:effectLst/>
                        </a:rPr>
                        <a:t>см)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4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7 986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31 944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2876980"/>
                  </a:ext>
                </a:extLst>
              </a:tr>
              <a:tr h="60707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Офисное кресло Бюрократ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4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7290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29 160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1783942"/>
                  </a:ext>
                </a:extLst>
              </a:tr>
              <a:tr h="60707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Прямой диван (145</a:t>
                      </a:r>
                      <a:r>
                        <a:rPr lang="en-US" sz="2800">
                          <a:effectLst/>
                        </a:rPr>
                        <a:t>x76x73x40)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1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23 352 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23 352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6451154"/>
                  </a:ext>
                </a:extLst>
              </a:tr>
              <a:tr h="60707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Стеллаж широкий высокий (</a:t>
                      </a:r>
                      <a:r>
                        <a:rPr lang="en-US" sz="2800">
                          <a:effectLst/>
                        </a:rPr>
                        <a:t>850x430x1930)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1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16 915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16 915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02290836"/>
                  </a:ext>
                </a:extLst>
              </a:tr>
              <a:tr h="60707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Шкаф для одежды (</a:t>
                      </a:r>
                      <a:r>
                        <a:rPr lang="en-US" sz="2800">
                          <a:effectLst/>
                        </a:rPr>
                        <a:t>798x610x1960)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1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15 024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15 024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3905992"/>
                  </a:ext>
                </a:extLst>
              </a:tr>
              <a:tr h="60707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Магнитная доска на стенде (90</a:t>
                      </a:r>
                      <a:r>
                        <a:rPr lang="en-US" sz="2800">
                          <a:effectLst/>
                        </a:rPr>
                        <a:t>x</a:t>
                      </a:r>
                      <a:r>
                        <a:rPr lang="ru-RU" sz="2800">
                          <a:effectLst/>
                        </a:rPr>
                        <a:t>120)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1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24 274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24 274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23547285"/>
                  </a:ext>
                </a:extLst>
              </a:tr>
              <a:tr h="60707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Итог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 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 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</a:rPr>
                        <a:t>140 669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7861743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485</Words>
  <Application>Microsoft Office PowerPoint</Application>
  <PresentationFormat>Произвольный</PresentationFormat>
  <Paragraphs>174</Paragraphs>
  <Slides>24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Office Theme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Slava</cp:lastModifiedBy>
  <cp:revision>17</cp:revision>
  <dcterms:created xsi:type="dcterms:W3CDTF">2024-05-16T09:20:13Z</dcterms:created>
  <dcterms:modified xsi:type="dcterms:W3CDTF">2024-05-23T20:39:38Z</dcterms:modified>
</cp:coreProperties>
</file>